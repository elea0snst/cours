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10">
  <p:sldMasterIdLst>
    <p:sldMasterId id="2147483648" r:id="rId1"/>
  </p:sldMasterIdLst>
  <p:sldIdLst>
    <p:sldId id="256" r:id="rId2"/>
    <p:sldId id="257" r:id="rId3"/>
    <p:sldId id="268" r:id="rId4"/>
    <p:sldId id="258" r:id="rId5"/>
    <p:sldId id="260" r:id="rId6"/>
    <p:sldId id="261" r:id="rId7"/>
    <p:sldId id="263" r:id="rId8"/>
    <p:sldId id="269" r:id="rId9"/>
    <p:sldId id="270" r:id="rId10"/>
    <p:sldId id="262" r:id="rId11"/>
    <p:sldId id="271" r:id="rId12"/>
    <p:sldId id="265" r:id="rId13"/>
    <p:sldId id="266" r:id="rId14"/>
    <p:sldId id="267" r:id="rId15"/>
    <p:sldId id="259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DCFEA"/>
    <a:srgbClr val="8BB0BF"/>
    <a:srgbClr val="91C8E6"/>
    <a:srgbClr val="28AE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96BF2E-896B-4BF2-89AE-616C3BEFC4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8348204-2F59-434B-8DA0-E3500900AF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41F203F-0BCA-4636-98F2-7C3CBD7C5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336F-47E7-4ADB-B4E9-3DC4617BC8E0}" type="datetimeFigureOut">
              <a:rPr lang="ru-RU" smtClean="0"/>
              <a:t>07.05.2025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30E6189-FCC6-415A-B41F-BAF02D06F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D18B201-452D-4717-B74F-55FE1220B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85FE9-5328-4239-AE20-B171C52D96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43814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CCBE34-F5DB-40D1-BEBC-88B1E4030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4D7D768-9921-43C3-9E12-5CF9892DAD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016B69D-7D12-4FD3-A51A-C8CD9132C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336F-47E7-4ADB-B4E9-3DC4617BC8E0}" type="datetimeFigureOut">
              <a:rPr lang="ru-RU" smtClean="0"/>
              <a:t>07.05.2025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88D47AE-2FAD-43E2-A73D-1E411F623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2BC86BD-9AF9-4E15-AA91-8CB187054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85FE9-5328-4239-AE20-B171C52D96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0401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C68B89-7880-418A-8703-28654D555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BF6B788-F4A4-44CB-83FA-FB1DD8AFBB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B44B0B9-7DC9-4257-80F2-F361DC366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336F-47E7-4ADB-B4E9-3DC4617BC8E0}" type="datetimeFigureOut">
              <a:rPr lang="ru-RU" smtClean="0"/>
              <a:t>07.05.2025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B4BDA5D-22EB-4D13-A827-AACFEDAEC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8CE281D-6092-4B72-ACC2-1DCED0AA1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85FE9-5328-4239-AE20-B171C52D96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5065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6071EF-462B-41BE-86D4-E47450C1A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5563A36-1B7E-4E4C-BBAE-F59EFCE513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886193B-DD0D-4C31-AB25-7CDB88D56E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8E82414-B958-4460-B187-0C011988C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336F-47E7-4ADB-B4E9-3DC4617BC8E0}" type="datetimeFigureOut">
              <a:rPr lang="ru-RU" smtClean="0"/>
              <a:t>07.05.2025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4560805-BC5E-49BC-928B-2A746ABD7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D9F07DC-EB45-42F4-A36B-4259CA9A8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85FE9-5328-4239-AE20-B171C52D96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3295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93A848-BECB-41BE-AB68-3DD586C8E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9A4C781-9ABF-472D-ABB2-E1E1071BA6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E785F81-2C12-490A-BBE9-77F8F0FE99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8531B9D-272C-44D4-AA65-46C80B2524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13451AB-2963-47C9-812F-97734E315C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5EDE5E0-7560-44E6-A668-F3601F28C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336F-47E7-4ADB-B4E9-3DC4617BC8E0}" type="datetimeFigureOut">
              <a:rPr lang="ru-RU" smtClean="0"/>
              <a:t>07.05.2025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6EC85CE-A14D-4403-8E34-981562026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6562A82-1561-4B6B-9484-458C66A29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85FE9-5328-4239-AE20-B171C52D96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5122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456573-BECC-4260-8F87-905D1A6C3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F2606B9-B1EF-4B0F-B23D-C151B9131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336F-47E7-4ADB-B4E9-3DC4617BC8E0}" type="datetimeFigureOut">
              <a:rPr lang="ru-RU" smtClean="0"/>
              <a:t>07.05.2025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B9E3D52-9C49-48CD-B082-A53370BC2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37964B5-1241-42C0-9A6F-FFADB1181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85FE9-5328-4239-AE20-B171C52D96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2495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82398EC-E815-409D-8B57-B4A08337F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336F-47E7-4ADB-B4E9-3DC4617BC8E0}" type="datetimeFigureOut">
              <a:rPr lang="ru-RU" smtClean="0"/>
              <a:t>07.05.2025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D0EA317-47CE-4ADF-AF64-4136356F4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0F9B62A-250D-4FCD-B436-DEEC04FC9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85FE9-5328-4239-AE20-B171C52D96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7200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8528B7-9A0C-47B2-A6EA-91ADEA077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6A40441-83C1-4842-B28E-BD764BD7B9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7429DBA-BCF6-41EA-89FE-F8CD4B3617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E0286CE-136E-42DB-8BD9-08C82C505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336F-47E7-4ADB-B4E9-3DC4617BC8E0}" type="datetimeFigureOut">
              <a:rPr lang="ru-RU" smtClean="0"/>
              <a:t>07.05.2025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3765758-B7AB-4D23-B17F-A7AA8EE5A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7240733-D78B-47B1-B0B2-6D0D7252D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85FE9-5328-4239-AE20-B171C52D96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1538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7A6F18-0CDF-49A5-B7CF-52512FC5E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B5E91A2-EB49-448C-B47C-5DE8B70B0F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42885F2-6C4A-4274-9A32-75D6285AFA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CFFC3D9-32BC-4404-AA4A-48A72B764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336F-47E7-4ADB-B4E9-3DC4617BC8E0}" type="datetimeFigureOut">
              <a:rPr lang="ru-RU" smtClean="0"/>
              <a:t>07.05.2025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AFF1334-8965-4737-8AE9-1D4E8B222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A859AA0-0AA9-47C9-AB71-4517A3F9B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85FE9-5328-4239-AE20-B171C52D96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19783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17D37A-DCC7-4A25-884C-DD22D2CAE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4BFA6A4-ECCA-4D77-9208-73C5766A27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36C7F0E-80AF-412A-B9B4-37B20D322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336F-47E7-4ADB-B4E9-3DC4617BC8E0}" type="datetimeFigureOut">
              <a:rPr lang="ru-RU" smtClean="0"/>
              <a:t>07.05.2025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F37A3C7-9943-4FF3-A0AF-E3FFC447A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DF69C7-9247-49AC-B56D-BFD4B5DF1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85FE9-5328-4239-AE20-B171C52D96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0118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856EE8B-2E3A-4FB0-B033-976EAEDB96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5DB4926-D5F1-46BE-B3A1-E93075D697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0E85EF4-5A3A-44A5-AB05-8714F1876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336F-47E7-4ADB-B4E9-3DC4617BC8E0}" type="datetimeFigureOut">
              <a:rPr lang="ru-RU" smtClean="0"/>
              <a:t>07.05.2025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068AD18-216F-48AD-8929-591775694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B03F366-D9C9-4B99-8386-D1C334F33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85FE9-5328-4239-AE20-B171C52D96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2157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3E012A-9166-4B9C-B1C3-5481EC96C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8F3854-18ED-4417-9A9C-70127ABF16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07B9B2D-C109-46E9-9571-ED8DE64DE5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92336F-47E7-4ADB-B4E9-3DC4617BC8E0}" type="datetimeFigureOut">
              <a:rPr lang="ru-RU" smtClean="0"/>
              <a:t>07.05.2025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E4B7490-9306-4508-B3BC-A729FA20A4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396A588-F400-4D91-8B9C-3E4168BC57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285FE9-5328-4239-AE20-B171C52D96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3169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rgbClr val="8BB0BF">
                <a:lumMod val="97000"/>
              </a:srgbClr>
            </a:gs>
            <a:gs pos="100000">
              <a:schemeClr val="accent1">
                <a:lumMod val="20000"/>
                <a:lumOff val="80000"/>
              </a:schemeClr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3637568-A57F-4ECF-92A9-8787105B455A}"/>
              </a:ext>
            </a:extLst>
          </p:cNvPr>
          <p:cNvSpPr txBox="1"/>
          <p:nvPr/>
        </p:nvSpPr>
        <p:spPr>
          <a:xfrm>
            <a:off x="363220" y="241767"/>
            <a:ext cx="1146556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solidFill>
                  <a:schemeClr val="bg1"/>
                </a:solidFill>
              </a:rPr>
              <a:t>Федеральное государственное образовательное бюджетное учреждение высшего образования</a:t>
            </a:r>
          </a:p>
          <a:p>
            <a:pPr algn="ctr"/>
            <a:r>
              <a:rPr lang="ru-RU" sz="2400" dirty="0">
                <a:solidFill>
                  <a:schemeClr val="bg1"/>
                </a:solidFill>
              </a:rPr>
              <a:t>«Финансовый университет При Правительстве </a:t>
            </a:r>
          </a:p>
          <a:p>
            <a:pPr algn="ctr"/>
            <a:r>
              <a:rPr lang="ru-RU" sz="2400" dirty="0">
                <a:solidFill>
                  <a:schemeClr val="bg1"/>
                </a:solidFill>
              </a:rPr>
              <a:t>Российской Федерации»</a:t>
            </a:r>
          </a:p>
          <a:p>
            <a:pPr algn="ctr"/>
            <a:r>
              <a:rPr lang="ru-RU" sz="2400" dirty="0">
                <a:solidFill>
                  <a:schemeClr val="bg1"/>
                </a:solidFill>
              </a:rPr>
              <a:t>Колледж информатики и программирования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46FF0F-AD4B-428F-B195-ACE81AC1A46B}"/>
              </a:ext>
            </a:extLst>
          </p:cNvPr>
          <p:cNvSpPr txBox="1"/>
          <p:nvPr/>
        </p:nvSpPr>
        <p:spPr>
          <a:xfrm>
            <a:off x="6944360" y="4857582"/>
            <a:ext cx="51104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dirty="0"/>
              <a:t>Руководитель курсового проекта: Хасанова Н. А.</a:t>
            </a:r>
          </a:p>
          <a:p>
            <a:pPr algn="r"/>
            <a:r>
              <a:rPr lang="ru-RU" dirty="0"/>
              <a:t>Исполнитель курсового проекта: Колосова Д. С.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C77B23-95EE-43E8-BA1A-2F6BC93F7878}"/>
              </a:ext>
            </a:extLst>
          </p:cNvPr>
          <p:cNvSpPr txBox="1"/>
          <p:nvPr/>
        </p:nvSpPr>
        <p:spPr>
          <a:xfrm>
            <a:off x="5755640" y="6240313"/>
            <a:ext cx="680720" cy="375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2025</a:t>
            </a:r>
          </a:p>
        </p:txBody>
      </p:sp>
      <p:sp>
        <p:nvSpPr>
          <p:cNvPr id="10" name="Прямоугольник: скругленные противолежащие углы 9">
            <a:extLst>
              <a:ext uri="{FF2B5EF4-FFF2-40B4-BE49-F238E27FC236}">
                <a16:creationId xmlns:a16="http://schemas.microsoft.com/office/drawing/2014/main" id="{D7AF241B-B650-48DC-BB67-53E52A22C7BF}"/>
              </a:ext>
            </a:extLst>
          </p:cNvPr>
          <p:cNvSpPr/>
          <p:nvPr/>
        </p:nvSpPr>
        <p:spPr>
          <a:xfrm>
            <a:off x="965200" y="2929890"/>
            <a:ext cx="10058400" cy="1219200"/>
          </a:xfrm>
          <a:prstGeom prst="round2DiagRect">
            <a:avLst/>
          </a:prstGeom>
          <a:solidFill>
            <a:schemeClr val="bg1"/>
          </a:solidFill>
          <a:ln>
            <a:solidFill>
              <a:srgbClr val="ADCF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954D1A-E00D-4B56-A66C-D744FBC277EE}"/>
              </a:ext>
            </a:extLst>
          </p:cNvPr>
          <p:cNvSpPr txBox="1"/>
          <p:nvPr/>
        </p:nvSpPr>
        <p:spPr>
          <a:xfrm>
            <a:off x="2698750" y="3042117"/>
            <a:ext cx="67183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/>
              <a:t>Проектирование и разработка базы данных для платформы онлайн-курсов</a:t>
            </a:r>
          </a:p>
        </p:txBody>
      </p:sp>
    </p:spTree>
    <p:extLst>
      <p:ext uri="{BB962C8B-B14F-4D97-AF65-F5344CB8AC3E}">
        <p14:creationId xmlns:p14="http://schemas.microsoft.com/office/powerpoint/2010/main" val="30416025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rgbClr val="8BB0BF">
                <a:lumMod val="97000"/>
              </a:srgbClr>
            </a:gs>
            <a:gs pos="100000">
              <a:schemeClr val="accent1">
                <a:lumMod val="20000"/>
                <a:lumOff val="80000"/>
              </a:schemeClr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противолежащие углы 1">
            <a:extLst>
              <a:ext uri="{FF2B5EF4-FFF2-40B4-BE49-F238E27FC236}">
                <a16:creationId xmlns:a16="http://schemas.microsoft.com/office/drawing/2014/main" id="{70A9F6A3-A54F-40AF-BAF9-7637447374FA}"/>
              </a:ext>
            </a:extLst>
          </p:cNvPr>
          <p:cNvSpPr/>
          <p:nvPr/>
        </p:nvSpPr>
        <p:spPr>
          <a:xfrm>
            <a:off x="1643667" y="290386"/>
            <a:ext cx="8904665" cy="803124"/>
          </a:xfrm>
          <a:prstGeom prst="round2DiagRect">
            <a:avLst/>
          </a:prstGeom>
          <a:solidFill>
            <a:schemeClr val="bg1"/>
          </a:solidFill>
          <a:ln>
            <a:solidFill>
              <a:srgbClr val="ADCF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754E5E-4527-4E7A-B292-D5A9FF236ECF}"/>
              </a:ext>
            </a:extLst>
          </p:cNvPr>
          <p:cNvSpPr txBox="1"/>
          <p:nvPr/>
        </p:nvSpPr>
        <p:spPr>
          <a:xfrm>
            <a:off x="4172931" y="468045"/>
            <a:ext cx="38461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accent1">
                    <a:lumMod val="50000"/>
                  </a:schemeClr>
                </a:solidFill>
              </a:rPr>
              <a:t>Цель и задачи проекта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047D25-A416-4210-9397-72EAD6209762}"/>
              </a:ext>
            </a:extLst>
          </p:cNvPr>
          <p:cNvSpPr txBox="1"/>
          <p:nvPr/>
        </p:nvSpPr>
        <p:spPr>
          <a:xfrm>
            <a:off x="619026" y="1775474"/>
            <a:ext cx="10953946" cy="464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b="1" dirty="0">
                <a:solidFill>
                  <a:schemeClr val="accent1">
                    <a:lumMod val="50000"/>
                  </a:schemeClr>
                </a:solidFill>
              </a:rPr>
              <a:t>Цель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</a:rPr>
              <a:t>: Разработка платформы для онлайн-курсов с самостоятельным обучением (без тьютора).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BE68F0-ABE8-4ABA-972C-14F4C8D47642}"/>
              </a:ext>
            </a:extLst>
          </p:cNvPr>
          <p:cNvSpPr txBox="1"/>
          <p:nvPr/>
        </p:nvSpPr>
        <p:spPr>
          <a:xfrm>
            <a:off x="619026" y="2705493"/>
            <a:ext cx="8201319" cy="3373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ru-RU" b="1" i="0" dirty="0">
                <a:solidFill>
                  <a:schemeClr val="accent1">
                    <a:lumMod val="50000"/>
                  </a:schemeClr>
                </a:solidFill>
                <a:effectLst/>
                <a:latin typeface="DeepSeek-CJK-patch"/>
              </a:rPr>
              <a:t>Задачи</a:t>
            </a:r>
            <a:r>
              <a:rPr lang="ru-RU" b="0" i="0" dirty="0">
                <a:solidFill>
                  <a:schemeClr val="accent1">
                    <a:lumMod val="50000"/>
                  </a:schemeClr>
                </a:solidFill>
                <a:effectLst/>
                <a:latin typeface="DeepSeek-CJK-patch"/>
              </a:rPr>
              <a:t>: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ru-RU" b="0" i="0" dirty="0">
                <a:solidFill>
                  <a:schemeClr val="accent1">
                    <a:lumMod val="50000"/>
                  </a:schemeClr>
                </a:solidFill>
                <a:effectLst/>
                <a:latin typeface="DeepSeek-CJK-patch"/>
              </a:rPr>
              <a:t> Создание удобного пользовательского интерфейса.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ru-RU" b="0" i="0" dirty="0">
                <a:solidFill>
                  <a:schemeClr val="accent1">
                    <a:lumMod val="50000"/>
                  </a:schemeClr>
                </a:solidFill>
                <a:effectLst/>
                <a:latin typeface="DeepSeek-CJK-patch"/>
              </a:rPr>
              <a:t> Внедрение системы автоматической проверки знаний.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ru-RU" b="0" i="0" dirty="0">
                <a:solidFill>
                  <a:schemeClr val="accent1">
                    <a:lumMod val="50000"/>
                  </a:schemeClr>
                </a:solidFill>
                <a:effectLst/>
                <a:latin typeface="DeepSeek-CJK-patch"/>
              </a:rPr>
              <a:t> Реализация функционала для создания курсов (роль «Преподаватель»).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ru-RU" b="0" i="0" dirty="0">
                <a:solidFill>
                  <a:schemeClr val="accent1">
                    <a:lumMod val="50000"/>
                  </a:schemeClr>
                </a:solidFill>
                <a:effectLst/>
                <a:latin typeface="DeepSeek-CJK-patch"/>
              </a:rPr>
              <a:t> Обеспечение администрирования и поддержки платформы.</a:t>
            </a:r>
          </a:p>
          <a:p>
            <a:pPr algn="l">
              <a:lnSpc>
                <a:spcPct val="150000"/>
              </a:lnSpc>
            </a:pPr>
            <a:r>
              <a:rPr lang="ru-RU" b="1" i="0" dirty="0">
                <a:solidFill>
                  <a:schemeClr val="accent1">
                    <a:lumMod val="50000"/>
                  </a:schemeClr>
                </a:solidFill>
                <a:effectLst/>
                <a:latin typeface="DeepSeek-CJK-patch"/>
              </a:rPr>
              <a:t>Методы исследования</a:t>
            </a:r>
            <a:r>
              <a:rPr lang="ru-RU" b="0" i="0" dirty="0">
                <a:solidFill>
                  <a:schemeClr val="accent1">
                    <a:lumMod val="50000"/>
                  </a:schemeClr>
                </a:solidFill>
                <a:effectLst/>
                <a:latin typeface="DeepSeek-CJK-patch"/>
              </a:rPr>
              <a:t>:</a:t>
            </a:r>
          </a:p>
          <a:p>
            <a:pPr algn="l">
              <a:lnSpc>
                <a:spcPct val="150000"/>
              </a:lnSpc>
            </a:pPr>
            <a:r>
              <a:rPr lang="ru-RU" b="0" i="0" dirty="0">
                <a:solidFill>
                  <a:schemeClr val="accent1">
                    <a:lumMod val="50000"/>
                  </a:schemeClr>
                </a:solidFill>
                <a:effectLst/>
                <a:latin typeface="DeepSeek-CJK-patch"/>
              </a:rPr>
              <a:t> - Анализ существующих решений (например, </a:t>
            </a:r>
            <a:r>
              <a:rPr lang="ru-RU" b="0" i="0" dirty="0" err="1">
                <a:solidFill>
                  <a:schemeClr val="accent1">
                    <a:lumMod val="50000"/>
                  </a:schemeClr>
                </a:solidFill>
                <a:effectLst/>
                <a:latin typeface="DeepSeek-CJK-patch"/>
              </a:rPr>
              <a:t>Stepik</a:t>
            </a:r>
            <a:r>
              <a:rPr lang="ru-RU" b="0" i="0" dirty="0">
                <a:solidFill>
                  <a:schemeClr val="accent1">
                    <a:lumMod val="50000"/>
                  </a:schemeClr>
                </a:solidFill>
                <a:effectLst/>
                <a:latin typeface="DeepSeek-CJK-patch"/>
              </a:rPr>
              <a:t>).</a:t>
            </a:r>
          </a:p>
          <a:p>
            <a:pPr algn="l">
              <a:lnSpc>
                <a:spcPct val="150000"/>
              </a:lnSpc>
            </a:pPr>
            <a:r>
              <a:rPr lang="ru-RU" b="0" i="0" dirty="0">
                <a:solidFill>
                  <a:schemeClr val="accent1">
                    <a:lumMod val="50000"/>
                  </a:schemeClr>
                </a:solidFill>
                <a:effectLst/>
                <a:latin typeface="DeepSeek-CJK-patch"/>
              </a:rPr>
              <a:t> - Сравнительный анализ функционала популярных платформ.</a:t>
            </a:r>
          </a:p>
        </p:txBody>
      </p:sp>
    </p:spTree>
    <p:extLst>
      <p:ext uri="{BB962C8B-B14F-4D97-AF65-F5344CB8AC3E}">
        <p14:creationId xmlns:p14="http://schemas.microsoft.com/office/powerpoint/2010/main" val="3232330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rgbClr val="8BB0BF">
                <a:lumMod val="97000"/>
              </a:srgbClr>
            </a:gs>
            <a:gs pos="100000">
              <a:schemeClr val="accent1">
                <a:lumMod val="20000"/>
                <a:lumOff val="80000"/>
              </a:schemeClr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противолежащие углы 1">
            <a:extLst>
              <a:ext uri="{FF2B5EF4-FFF2-40B4-BE49-F238E27FC236}">
                <a16:creationId xmlns:a16="http://schemas.microsoft.com/office/drawing/2014/main" id="{8CDAB59F-8414-4393-807D-C34F80AAD1F4}"/>
              </a:ext>
            </a:extLst>
          </p:cNvPr>
          <p:cNvSpPr/>
          <p:nvPr/>
        </p:nvSpPr>
        <p:spPr>
          <a:xfrm>
            <a:off x="1643666" y="1053957"/>
            <a:ext cx="8904665" cy="803124"/>
          </a:xfrm>
          <a:prstGeom prst="round2DiagRect">
            <a:avLst/>
          </a:prstGeom>
          <a:solidFill>
            <a:schemeClr val="bg1"/>
          </a:solidFill>
          <a:ln>
            <a:solidFill>
              <a:srgbClr val="ADCF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237FC0-7763-49F2-B5DD-43C8BB320505}"/>
              </a:ext>
            </a:extLst>
          </p:cNvPr>
          <p:cNvSpPr txBox="1"/>
          <p:nvPr/>
        </p:nvSpPr>
        <p:spPr>
          <a:xfrm>
            <a:off x="3370081" y="1193909"/>
            <a:ext cx="54518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accent1">
                    <a:lumMod val="50000"/>
                  </a:schemeClr>
                </a:solidFill>
              </a:rPr>
              <a:t>Предмет и объект исследования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85A60B-ACCB-41F0-826E-B15559D8A372}"/>
              </a:ext>
            </a:extLst>
          </p:cNvPr>
          <p:cNvSpPr txBox="1"/>
          <p:nvPr/>
        </p:nvSpPr>
        <p:spPr>
          <a:xfrm>
            <a:off x="500143" y="2377268"/>
            <a:ext cx="8321774" cy="2542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ru-RU" b="1" i="0" dirty="0">
                <a:solidFill>
                  <a:schemeClr val="accent1">
                    <a:lumMod val="50000"/>
                  </a:schemeClr>
                </a:solidFill>
                <a:effectLst/>
                <a:latin typeface="DeepSeek-CJK-patch"/>
              </a:rPr>
              <a:t>Объект исследования</a:t>
            </a:r>
            <a:r>
              <a:rPr lang="ru-RU" b="0" i="0" dirty="0">
                <a:solidFill>
                  <a:schemeClr val="accent1">
                    <a:lumMod val="50000"/>
                  </a:schemeClr>
                </a:solidFill>
                <a:effectLst/>
                <a:latin typeface="DeepSeek-CJK-patch"/>
              </a:rPr>
              <a:t> – онлайн-платформы для дистанционного обучения </a:t>
            </a:r>
            <a:endParaRPr lang="en-US" b="0" i="0" dirty="0">
              <a:solidFill>
                <a:schemeClr val="accent1">
                  <a:lumMod val="50000"/>
                </a:schemeClr>
              </a:solidFill>
              <a:effectLst/>
              <a:latin typeface="DeepSeek-CJK-patch"/>
            </a:endParaRPr>
          </a:p>
          <a:p>
            <a:pPr algn="l">
              <a:lnSpc>
                <a:spcPct val="150000"/>
              </a:lnSpc>
            </a:pPr>
            <a:r>
              <a:rPr lang="ru-RU" b="0" i="0" dirty="0">
                <a:solidFill>
                  <a:schemeClr val="accent1">
                    <a:lumMod val="50000"/>
                  </a:schemeClr>
                </a:solidFill>
                <a:effectLst/>
                <a:latin typeface="DeepSeek-CJK-patch"/>
              </a:rPr>
              <a:t>(от простых сайтов с лекциями до сложных LMS-систем).</a:t>
            </a:r>
          </a:p>
          <a:p>
            <a:pPr algn="l">
              <a:lnSpc>
                <a:spcPct val="150000"/>
              </a:lnSpc>
            </a:pPr>
            <a:r>
              <a:rPr lang="ru-RU" b="1" i="0" dirty="0">
                <a:solidFill>
                  <a:schemeClr val="accent1">
                    <a:lumMod val="50000"/>
                  </a:schemeClr>
                </a:solidFill>
                <a:effectLst/>
                <a:latin typeface="DeepSeek-CJK-patch"/>
              </a:rPr>
              <a:t>Предмет исследования</a:t>
            </a:r>
            <a:r>
              <a:rPr lang="ru-RU" b="0" i="0" dirty="0">
                <a:solidFill>
                  <a:schemeClr val="accent1">
                    <a:lumMod val="50000"/>
                  </a:schemeClr>
                </a:solidFill>
                <a:effectLst/>
                <a:latin typeface="DeepSeek-CJK-patch"/>
              </a:rPr>
              <a:t> – ключевые характеристики платформ:</a:t>
            </a:r>
          </a:p>
          <a:p>
            <a:pPr algn="l">
              <a:lnSpc>
                <a:spcPct val="150000"/>
              </a:lnSpc>
            </a:pPr>
            <a:r>
              <a:rPr lang="en-US" b="0" i="0" dirty="0">
                <a:solidFill>
                  <a:schemeClr val="accent1">
                    <a:lumMod val="50000"/>
                  </a:schemeClr>
                </a:solidFill>
                <a:effectLst/>
                <a:latin typeface="DeepSeek-CJK-patch"/>
              </a:rPr>
              <a:t>    - </a:t>
            </a:r>
            <a:r>
              <a:rPr lang="ru-RU" b="0" i="0" dirty="0">
                <a:solidFill>
                  <a:schemeClr val="accent1">
                    <a:lumMod val="50000"/>
                  </a:schemeClr>
                </a:solidFill>
                <a:effectLst/>
                <a:latin typeface="DeepSeek-CJK-patch"/>
              </a:rPr>
              <a:t>функционал (создание курсов, проверка знаний);</a:t>
            </a:r>
          </a:p>
          <a:p>
            <a:pPr algn="l">
              <a:lnSpc>
                <a:spcPct val="150000"/>
              </a:lnSpc>
            </a:pPr>
            <a:r>
              <a:rPr lang="en-US" b="0" i="0" dirty="0">
                <a:solidFill>
                  <a:schemeClr val="accent1">
                    <a:lumMod val="50000"/>
                  </a:schemeClr>
                </a:solidFill>
                <a:effectLst/>
                <a:latin typeface="DeepSeek-CJK-patch"/>
              </a:rPr>
              <a:t>    - </a:t>
            </a:r>
            <a:r>
              <a:rPr lang="ru-RU" b="0" i="0" dirty="0">
                <a:solidFill>
                  <a:schemeClr val="accent1">
                    <a:lumMod val="50000"/>
                  </a:schemeClr>
                </a:solidFill>
                <a:effectLst/>
                <a:latin typeface="DeepSeek-CJK-patch"/>
              </a:rPr>
              <a:t>интерфейс и удобство использования;</a:t>
            </a:r>
          </a:p>
          <a:p>
            <a:pPr algn="l">
              <a:lnSpc>
                <a:spcPct val="150000"/>
              </a:lnSpc>
            </a:pPr>
            <a:r>
              <a:rPr lang="en-US" b="0" i="0" dirty="0">
                <a:solidFill>
                  <a:schemeClr val="accent1">
                    <a:lumMod val="50000"/>
                  </a:schemeClr>
                </a:solidFill>
                <a:effectLst/>
                <a:latin typeface="DeepSeek-CJK-patch"/>
              </a:rPr>
              <a:t>    - </a:t>
            </a:r>
            <a:r>
              <a:rPr lang="ru-RU" b="0" i="0" dirty="0">
                <a:solidFill>
                  <a:schemeClr val="accent1">
                    <a:lumMod val="50000"/>
                  </a:schemeClr>
                </a:solidFill>
                <a:effectLst/>
                <a:latin typeface="DeepSeek-CJK-patch"/>
              </a:rPr>
              <a:t>технические аспекты (производительность, безопасность).</a:t>
            </a:r>
          </a:p>
        </p:txBody>
      </p:sp>
    </p:spTree>
    <p:extLst>
      <p:ext uri="{BB962C8B-B14F-4D97-AF65-F5344CB8AC3E}">
        <p14:creationId xmlns:p14="http://schemas.microsoft.com/office/powerpoint/2010/main" val="1346640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rgbClr val="8BB0BF">
                <a:lumMod val="97000"/>
              </a:srgbClr>
            </a:gs>
            <a:gs pos="100000">
              <a:schemeClr val="accent1">
                <a:lumMod val="20000"/>
                <a:lumOff val="80000"/>
              </a:schemeClr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противолежащие углы 1">
            <a:extLst>
              <a:ext uri="{FF2B5EF4-FFF2-40B4-BE49-F238E27FC236}">
                <a16:creationId xmlns:a16="http://schemas.microsoft.com/office/drawing/2014/main" id="{8CDAB59F-8414-4393-807D-C34F80AAD1F4}"/>
              </a:ext>
            </a:extLst>
          </p:cNvPr>
          <p:cNvSpPr/>
          <p:nvPr/>
        </p:nvSpPr>
        <p:spPr>
          <a:xfrm>
            <a:off x="1643664" y="326248"/>
            <a:ext cx="8904665" cy="803124"/>
          </a:xfrm>
          <a:prstGeom prst="round2DiagRect">
            <a:avLst/>
          </a:prstGeom>
          <a:solidFill>
            <a:schemeClr val="bg1"/>
          </a:solidFill>
          <a:ln>
            <a:solidFill>
              <a:srgbClr val="ADCF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237FC0-7763-49F2-B5DD-43C8BB320505}"/>
              </a:ext>
            </a:extLst>
          </p:cNvPr>
          <p:cNvSpPr txBox="1"/>
          <p:nvPr/>
        </p:nvSpPr>
        <p:spPr>
          <a:xfrm>
            <a:off x="5126083" y="466200"/>
            <a:ext cx="20691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accent1">
                    <a:lumMod val="50000"/>
                  </a:schemeClr>
                </a:solidFill>
              </a:rPr>
              <a:t>О проекте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85A60B-ACCB-41F0-826E-B15559D8A372}"/>
              </a:ext>
            </a:extLst>
          </p:cNvPr>
          <p:cNvSpPr txBox="1"/>
          <p:nvPr/>
        </p:nvSpPr>
        <p:spPr>
          <a:xfrm>
            <a:off x="500140" y="1496399"/>
            <a:ext cx="11321069" cy="4619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ru-RU" b="0" i="0" dirty="0">
                <a:solidFill>
                  <a:schemeClr val="tx2">
                    <a:lumMod val="50000"/>
                  </a:schemeClr>
                </a:solidFill>
                <a:effectLst/>
                <a:latin typeface="DeepSeek-CJK-patch"/>
              </a:rPr>
              <a:t>Разрабатываемая платформа — это современное решение для дистанционного образования, позволяющее пользователям изучать материалы и создавать курсы без участия тьютора.</a:t>
            </a:r>
          </a:p>
          <a:p>
            <a:pPr algn="l">
              <a:lnSpc>
                <a:spcPct val="150000"/>
              </a:lnSpc>
            </a:pPr>
            <a:r>
              <a:rPr lang="ru-RU" b="1" i="0" dirty="0">
                <a:solidFill>
                  <a:schemeClr val="tx2">
                    <a:lumMod val="50000"/>
                  </a:schemeClr>
                </a:solidFill>
                <a:effectLst/>
                <a:latin typeface="DeepSeek-CJK-patch"/>
              </a:rPr>
              <a:t>Онлайн-платформы для курсов</a:t>
            </a:r>
            <a:r>
              <a:rPr lang="ru-RU" b="0" i="0" dirty="0">
                <a:solidFill>
                  <a:schemeClr val="tx2">
                    <a:lumMod val="50000"/>
                  </a:schemeClr>
                </a:solidFill>
                <a:effectLst/>
                <a:latin typeface="DeepSeek-CJK-patch"/>
              </a:rPr>
              <a:t> — это цифровые среды, которые заменяют традиционное обучение, предоставляя:</a:t>
            </a:r>
          </a:p>
          <a:p>
            <a:pPr algn="l">
              <a:lnSpc>
                <a:spcPct val="150000"/>
              </a:lnSpc>
            </a:pPr>
            <a:r>
              <a:rPr lang="ru-RU" b="0" i="0" dirty="0">
                <a:solidFill>
                  <a:schemeClr val="tx2">
                    <a:lumMod val="50000"/>
                  </a:schemeClr>
                </a:solidFill>
                <a:effectLst/>
                <a:latin typeface="DeepSeek-CJK-patch"/>
              </a:rPr>
              <a:t>    - Доступ к лекциям, тестам и заданиям в любое время.</a:t>
            </a:r>
          </a:p>
          <a:p>
            <a:pPr algn="l">
              <a:lnSpc>
                <a:spcPct val="150000"/>
              </a:lnSpc>
            </a:pPr>
            <a:r>
              <a:rPr lang="ru-RU" b="0" i="0" dirty="0">
                <a:solidFill>
                  <a:schemeClr val="tx2">
                    <a:lumMod val="50000"/>
                  </a:schemeClr>
                </a:solidFill>
                <a:effectLst/>
                <a:latin typeface="DeepSeek-CJK-patch"/>
              </a:rPr>
              <a:t>    - Инструменты для автоматической проверки знаний.</a:t>
            </a:r>
          </a:p>
          <a:p>
            <a:pPr algn="l">
              <a:lnSpc>
                <a:spcPct val="150000"/>
              </a:lnSpc>
            </a:pPr>
            <a:r>
              <a:rPr lang="ru-RU" b="0" i="0" dirty="0">
                <a:solidFill>
                  <a:schemeClr val="tx2">
                    <a:lumMod val="50000"/>
                  </a:schemeClr>
                </a:solidFill>
                <a:effectLst/>
                <a:latin typeface="DeepSeek-CJK-patch"/>
              </a:rPr>
              <a:t>    - Возможность преподавателям разрабатывать и публиковать курсы.</a:t>
            </a:r>
          </a:p>
          <a:p>
            <a:pPr algn="l">
              <a:lnSpc>
                <a:spcPct val="150000"/>
              </a:lnSpc>
            </a:pPr>
            <a:r>
              <a:rPr lang="ru-RU" b="1" i="0" dirty="0">
                <a:solidFill>
                  <a:schemeClr val="tx2">
                    <a:lumMod val="50000"/>
                  </a:schemeClr>
                </a:solidFill>
                <a:effectLst/>
                <a:latin typeface="DeepSeek-CJK-patch"/>
              </a:rPr>
              <a:t>Преимущества платформы</a:t>
            </a:r>
            <a:r>
              <a:rPr lang="ru-RU" b="0" i="0" dirty="0">
                <a:solidFill>
                  <a:schemeClr val="tx2">
                    <a:lumMod val="50000"/>
                  </a:schemeClr>
                </a:solidFill>
                <a:effectLst/>
                <a:latin typeface="DeepSeek-CJK-patch"/>
              </a:rPr>
              <a:t>:</a:t>
            </a:r>
            <a:br>
              <a:rPr lang="ru-RU" b="0" i="0" dirty="0">
                <a:solidFill>
                  <a:schemeClr val="tx2">
                    <a:lumMod val="50000"/>
                  </a:schemeClr>
                </a:solidFill>
                <a:effectLst/>
                <a:latin typeface="DeepSeek-CJK-patch"/>
              </a:rPr>
            </a:br>
            <a:r>
              <a:rPr lang="ru-RU" b="0" i="0" dirty="0">
                <a:solidFill>
                  <a:schemeClr val="tx2">
                    <a:lumMod val="50000"/>
                  </a:schemeClr>
                </a:solidFill>
                <a:effectLst/>
                <a:latin typeface="DeepSeek-CJK-patch"/>
              </a:rPr>
              <a:t>    - Удобный интерфейс для обучения и преподавания.</a:t>
            </a:r>
            <a:br>
              <a:rPr lang="ru-RU" b="0" i="0" dirty="0">
                <a:solidFill>
                  <a:schemeClr val="tx2">
                    <a:lumMod val="50000"/>
                  </a:schemeClr>
                </a:solidFill>
                <a:effectLst/>
                <a:latin typeface="DeepSeek-CJK-patch"/>
              </a:rPr>
            </a:br>
            <a:r>
              <a:rPr lang="ru-RU" b="0" i="0" dirty="0">
                <a:solidFill>
                  <a:schemeClr val="tx2">
                    <a:lumMod val="50000"/>
                  </a:schemeClr>
                </a:solidFill>
                <a:effectLst/>
                <a:latin typeface="DeepSeek-CJK-patch"/>
              </a:rPr>
              <a:t>    - Автоматизированная система проверки заданий.</a:t>
            </a:r>
            <a:br>
              <a:rPr lang="ru-RU" b="0" i="0" dirty="0">
                <a:solidFill>
                  <a:schemeClr val="tx2">
                    <a:lumMod val="50000"/>
                  </a:schemeClr>
                </a:solidFill>
                <a:effectLst/>
                <a:latin typeface="DeepSeek-CJK-patch"/>
              </a:rPr>
            </a:br>
            <a:r>
              <a:rPr lang="ru-RU" b="0" i="0" dirty="0">
                <a:solidFill>
                  <a:schemeClr val="tx2">
                    <a:lumMod val="50000"/>
                  </a:schemeClr>
                </a:solidFill>
                <a:effectLst/>
                <a:latin typeface="DeepSeek-CJK-patch"/>
              </a:rPr>
              <a:t>    - Гибкость и доступность для пользователей.</a:t>
            </a:r>
          </a:p>
        </p:txBody>
      </p:sp>
    </p:spTree>
    <p:extLst>
      <p:ext uri="{BB962C8B-B14F-4D97-AF65-F5344CB8AC3E}">
        <p14:creationId xmlns:p14="http://schemas.microsoft.com/office/powerpoint/2010/main" val="13134559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rgbClr val="8BB0BF">
                <a:lumMod val="97000"/>
              </a:srgbClr>
            </a:gs>
            <a:gs pos="100000">
              <a:schemeClr val="accent1">
                <a:lumMod val="20000"/>
                <a:lumOff val="80000"/>
              </a:schemeClr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F8952AF-3A47-4B5C-B5AE-DDEBF72AB994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798" y="212037"/>
            <a:ext cx="6777293" cy="5981374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A01F3A4-737F-48D0-A912-3D1F2ABCC38B}"/>
              </a:ext>
            </a:extLst>
          </p:cNvPr>
          <p:cNvSpPr txBox="1"/>
          <p:nvPr/>
        </p:nvSpPr>
        <p:spPr>
          <a:xfrm>
            <a:off x="7513163" y="2891673"/>
            <a:ext cx="39875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2">
                    <a:lumMod val="50000"/>
                  </a:schemeClr>
                </a:solidFill>
              </a:rPr>
              <a:t>Инфологическая модель базы данных</a:t>
            </a:r>
          </a:p>
        </p:txBody>
      </p:sp>
    </p:spTree>
    <p:extLst>
      <p:ext uri="{BB962C8B-B14F-4D97-AF65-F5344CB8AC3E}">
        <p14:creationId xmlns:p14="http://schemas.microsoft.com/office/powerpoint/2010/main" val="4790628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rgbClr val="8BB0BF">
                <a:lumMod val="97000"/>
              </a:srgbClr>
            </a:gs>
            <a:gs pos="100000">
              <a:schemeClr val="accent1">
                <a:lumMod val="20000"/>
                <a:lumOff val="80000"/>
              </a:schemeClr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Рисунок 111">
            <a:extLst>
              <a:ext uri="{FF2B5EF4-FFF2-40B4-BE49-F238E27FC236}">
                <a16:creationId xmlns:a16="http://schemas.microsoft.com/office/drawing/2014/main" id="{7AF50EA9-E762-4FD0-9F9D-5434D48C081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317476" y="249958"/>
            <a:ext cx="7365267" cy="5311857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57D35E4-A285-4E9F-B8A6-682B2A83B6B5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659" y="268811"/>
            <a:ext cx="3101209" cy="5877465"/>
          </a:xfrm>
          <a:prstGeom prst="rect">
            <a:avLst/>
          </a:prstGeom>
          <a:noFill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DE13848-01AF-4B69-A908-E94E03AAD8F4}"/>
              </a:ext>
            </a:extLst>
          </p:cNvPr>
          <p:cNvSpPr txBox="1"/>
          <p:nvPr/>
        </p:nvSpPr>
        <p:spPr>
          <a:xfrm>
            <a:off x="6293963" y="6127524"/>
            <a:ext cx="39875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ER-</a:t>
            </a:r>
            <a:r>
              <a:rPr lang="ru-RU" sz="2400" dirty="0">
                <a:solidFill>
                  <a:schemeClr val="tx2">
                    <a:lumMod val="50000"/>
                  </a:schemeClr>
                </a:solidFill>
              </a:rPr>
              <a:t>диаграмма базы данных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210B89-C76A-4778-A4FC-DB6209C440E0}"/>
              </a:ext>
            </a:extLst>
          </p:cNvPr>
          <p:cNvSpPr txBox="1"/>
          <p:nvPr/>
        </p:nvSpPr>
        <p:spPr>
          <a:xfrm>
            <a:off x="386499" y="6146276"/>
            <a:ext cx="43740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2">
                    <a:lumMod val="50000"/>
                  </a:schemeClr>
                </a:solidFill>
              </a:rPr>
              <a:t>Диаграмма бизнес-процессов</a:t>
            </a:r>
          </a:p>
        </p:txBody>
      </p:sp>
    </p:spTree>
    <p:extLst>
      <p:ext uri="{BB962C8B-B14F-4D97-AF65-F5344CB8AC3E}">
        <p14:creationId xmlns:p14="http://schemas.microsoft.com/office/powerpoint/2010/main" val="3177267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rgbClr val="8BB0BF">
                <a:lumMod val="97000"/>
              </a:srgbClr>
            </a:gs>
            <a:gs pos="100000">
              <a:schemeClr val="accent1">
                <a:lumMod val="20000"/>
                <a:lumOff val="80000"/>
              </a:schemeClr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C97A5C-3B4F-40F6-854D-B0C0E07210D6}"/>
              </a:ext>
            </a:extLst>
          </p:cNvPr>
          <p:cNvSpPr txBox="1"/>
          <p:nvPr/>
        </p:nvSpPr>
        <p:spPr>
          <a:xfrm>
            <a:off x="8097624" y="327582"/>
            <a:ext cx="39875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2">
                    <a:lumMod val="50000"/>
                  </a:schemeClr>
                </a:solidFill>
              </a:rPr>
              <a:t>Интерфейс страниц регистрации и авторизации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CD4F8F1-D993-42A2-B815-D1F0BF20C8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926790"/>
            <a:ext cx="5522744" cy="3908403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ACBC0BE-3DD2-4E78-B4CA-9221EAF3507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152"/>
          <a:stretch/>
        </p:blipFill>
        <p:spPr>
          <a:xfrm>
            <a:off x="484095" y="565608"/>
            <a:ext cx="5077534" cy="5359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0992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rgbClr val="8BB0BF">
                <a:lumMod val="97000"/>
              </a:srgbClr>
            </a:gs>
            <a:gs pos="100000">
              <a:schemeClr val="accent1">
                <a:lumMod val="20000"/>
                <a:lumOff val="80000"/>
              </a:schemeClr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C97A5C-3B4F-40F6-854D-B0C0E07210D6}"/>
              </a:ext>
            </a:extLst>
          </p:cNvPr>
          <p:cNvSpPr txBox="1"/>
          <p:nvPr/>
        </p:nvSpPr>
        <p:spPr>
          <a:xfrm>
            <a:off x="471340" y="279843"/>
            <a:ext cx="39875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2">
                    <a:lumMod val="50000"/>
                  </a:schemeClr>
                </a:solidFill>
              </a:rPr>
              <a:t>Интерфейс преподавателя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1DBDC75-C9AD-4ADB-8DD4-4F7963FF9A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305" y="1094005"/>
            <a:ext cx="5128095" cy="320702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F82634B-32E8-4B2E-83D7-87B2FF68EF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3124" y="232710"/>
            <a:ext cx="4285188" cy="2867928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99D566DF-AE6D-46A3-9923-79978602E1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4302" y="3429000"/>
            <a:ext cx="4725885" cy="3145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8709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rgbClr val="8BB0BF">
                <a:lumMod val="97000"/>
              </a:srgbClr>
            </a:gs>
            <a:gs pos="100000">
              <a:schemeClr val="accent1">
                <a:lumMod val="20000"/>
                <a:lumOff val="80000"/>
              </a:schemeClr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C97A5C-3B4F-40F6-854D-B0C0E07210D6}"/>
              </a:ext>
            </a:extLst>
          </p:cNvPr>
          <p:cNvSpPr txBox="1"/>
          <p:nvPr/>
        </p:nvSpPr>
        <p:spPr>
          <a:xfrm>
            <a:off x="5806911" y="279843"/>
            <a:ext cx="39875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2">
                    <a:lumMod val="50000"/>
                  </a:schemeClr>
                </a:solidFill>
              </a:rPr>
              <a:t>Интерфейс преподавателя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C8A9A1B-DEAC-4EB2-A248-EEDF7D2826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258" y="1963831"/>
            <a:ext cx="5321928" cy="3343193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EAF5EEE8-20BE-458F-96B2-D0CC12A615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3093" y="1932496"/>
            <a:ext cx="5480032" cy="3343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8730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rgbClr val="8BB0BF">
                <a:lumMod val="97000"/>
              </a:srgbClr>
            </a:gs>
            <a:gs pos="100000">
              <a:schemeClr val="accent1">
                <a:lumMod val="20000"/>
                <a:lumOff val="80000"/>
              </a:schemeClr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D0BAEB9-8F35-4C31-888F-6EBCCDDB005B}"/>
              </a:ext>
            </a:extLst>
          </p:cNvPr>
          <p:cNvSpPr txBox="1"/>
          <p:nvPr/>
        </p:nvSpPr>
        <p:spPr>
          <a:xfrm>
            <a:off x="8088198" y="384143"/>
            <a:ext cx="39875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2">
                    <a:lumMod val="50000"/>
                  </a:schemeClr>
                </a:solidFill>
              </a:rPr>
              <a:t>Интерфейс студента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46F48FB-222E-4761-AB31-085BC3B84E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331" y="446878"/>
            <a:ext cx="5777669" cy="315506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D97B71E-F3C9-4049-B8AD-E06409A0CE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331" y="3898891"/>
            <a:ext cx="6855389" cy="273947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F37F78B-B887-41C1-B8D3-AC3F1357EB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1311" y="1142761"/>
            <a:ext cx="4803566" cy="2632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9386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rgbClr val="8BB0BF">
                <a:lumMod val="97000"/>
              </a:srgbClr>
            </a:gs>
            <a:gs pos="100000">
              <a:schemeClr val="accent1">
                <a:lumMod val="20000"/>
                <a:lumOff val="80000"/>
              </a:schemeClr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67CF8D-25D4-4123-B827-06A06B2105A5}"/>
              </a:ext>
            </a:extLst>
          </p:cNvPr>
          <p:cNvSpPr txBox="1"/>
          <p:nvPr/>
        </p:nvSpPr>
        <p:spPr>
          <a:xfrm>
            <a:off x="8088198" y="384143"/>
            <a:ext cx="39875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2">
                    <a:lumMod val="50000"/>
                  </a:schemeClr>
                </a:solidFill>
              </a:rPr>
              <a:t>Интерфейс администратора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A78E807-B258-42E0-A0DC-E99E1763B1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523" y="135337"/>
            <a:ext cx="5841478" cy="383868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2D57462-9E0A-42BB-8CD3-96D6512913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5835" y="4178668"/>
            <a:ext cx="4880524" cy="2314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9208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rgbClr val="8BB0BF">
                <a:lumMod val="97000"/>
              </a:srgbClr>
            </a:gs>
            <a:gs pos="100000">
              <a:schemeClr val="accent1">
                <a:lumMod val="20000"/>
                <a:lumOff val="80000"/>
              </a:schemeClr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252204-BCF0-4026-B183-DFE8BD68DEF9}"/>
              </a:ext>
            </a:extLst>
          </p:cNvPr>
          <p:cNvSpPr txBox="1"/>
          <p:nvPr/>
        </p:nvSpPr>
        <p:spPr>
          <a:xfrm>
            <a:off x="8088198" y="384143"/>
            <a:ext cx="39875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2">
                    <a:lumMod val="50000"/>
                  </a:schemeClr>
                </a:solidFill>
              </a:rPr>
              <a:t>Интерфейс модератора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CE2E6C6-F006-4EA1-BB40-333CBB49C5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085" y="384143"/>
            <a:ext cx="5300557" cy="343307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35BFF10-66E0-4E9F-9567-9E8695B7C0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0105" y="2859185"/>
            <a:ext cx="5041339" cy="3244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4968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rgbClr val="8BB0BF">
                <a:lumMod val="97000"/>
              </a:srgbClr>
            </a:gs>
            <a:gs pos="100000">
              <a:schemeClr val="accent1">
                <a:lumMod val="20000"/>
                <a:lumOff val="80000"/>
              </a:schemeClr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C4B7CF-AF6B-4967-9024-34A0BD890CB2}"/>
              </a:ext>
            </a:extLst>
          </p:cNvPr>
          <p:cNvSpPr txBox="1"/>
          <p:nvPr/>
        </p:nvSpPr>
        <p:spPr>
          <a:xfrm>
            <a:off x="7098384" y="252168"/>
            <a:ext cx="49679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2">
                    <a:lumMod val="50000"/>
                  </a:schemeClr>
                </a:solidFill>
              </a:rPr>
              <a:t>Интерфейс оператора технической поддержки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ADB8121-D1E8-4843-B743-C7C0B935EC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148" y="367645"/>
            <a:ext cx="6011509" cy="3930978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7A50DFD-B843-4099-AFF8-C8E4E0E3B2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8987" y="3047215"/>
            <a:ext cx="5267928" cy="3438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8041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rgbClr val="8BB0BF">
                <a:lumMod val="97000"/>
              </a:srgbClr>
            </a:gs>
            <a:gs pos="100000">
              <a:schemeClr val="accent1">
                <a:lumMod val="20000"/>
                <a:lumOff val="80000"/>
              </a:schemeClr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противолежащие углы 1">
            <a:extLst>
              <a:ext uri="{FF2B5EF4-FFF2-40B4-BE49-F238E27FC236}">
                <a16:creationId xmlns:a16="http://schemas.microsoft.com/office/drawing/2014/main" id="{EFDD9B79-9E2F-4600-941D-A69967939152}"/>
              </a:ext>
            </a:extLst>
          </p:cNvPr>
          <p:cNvSpPr/>
          <p:nvPr/>
        </p:nvSpPr>
        <p:spPr>
          <a:xfrm>
            <a:off x="1740946" y="309238"/>
            <a:ext cx="8710105" cy="690001"/>
          </a:xfrm>
          <a:prstGeom prst="round2DiagRect">
            <a:avLst/>
          </a:prstGeom>
          <a:solidFill>
            <a:schemeClr val="bg1"/>
          </a:solidFill>
          <a:ln>
            <a:solidFill>
              <a:srgbClr val="ADCF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DF4D7E-2C09-43BA-88F3-98A1F102BC25}"/>
              </a:ext>
            </a:extLst>
          </p:cNvPr>
          <p:cNvSpPr txBox="1"/>
          <p:nvPr/>
        </p:nvSpPr>
        <p:spPr>
          <a:xfrm>
            <a:off x="4422742" y="423407"/>
            <a:ext cx="33465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accent1">
                    <a:lumMod val="50000"/>
                  </a:schemeClr>
                </a:solidFill>
              </a:rPr>
              <a:t>Достигнутые результаты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C4737F-4559-45CA-87D6-4EFEA8F14FDA}"/>
              </a:ext>
            </a:extLst>
          </p:cNvPr>
          <p:cNvSpPr txBox="1"/>
          <p:nvPr/>
        </p:nvSpPr>
        <p:spPr>
          <a:xfrm>
            <a:off x="699152" y="1311652"/>
            <a:ext cx="10245368" cy="4661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2000" b="1" dirty="0">
                <a:solidFill>
                  <a:schemeClr val="accent1">
                    <a:lumMod val="50000"/>
                  </a:schemeClr>
                </a:solidFill>
              </a:rPr>
              <a:t>Разработан удобный пользовательский интерфейс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2000" b="1" dirty="0">
                <a:solidFill>
                  <a:schemeClr val="accent1">
                    <a:lumMod val="50000"/>
                  </a:schemeClr>
                </a:solidFill>
              </a:rPr>
              <a:t>Внедрена система автоматической проверки знаний – созданы</a:t>
            </a:r>
            <a:r>
              <a:rPr lang="ru-RU" sz="2000" dirty="0">
                <a:solidFill>
                  <a:schemeClr val="accent1">
                    <a:lumMod val="50000"/>
                  </a:schemeClr>
                </a:solidFill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ru-RU" sz="2000" dirty="0">
                <a:solidFill>
                  <a:schemeClr val="accent1">
                    <a:lumMod val="50000"/>
                  </a:schemeClr>
                </a:solidFill>
              </a:rPr>
              <a:t>- Тесты с мгновенной обратной связью.</a:t>
            </a:r>
          </a:p>
          <a:p>
            <a:pPr>
              <a:lnSpc>
                <a:spcPct val="150000"/>
              </a:lnSpc>
            </a:pPr>
            <a:r>
              <a:rPr lang="ru-RU" sz="2000" dirty="0">
                <a:solidFill>
                  <a:schemeClr val="accent1">
                    <a:lumMod val="50000"/>
                  </a:schemeClr>
                </a:solidFill>
              </a:rPr>
              <a:t>- Возможность загрузки заданий с автоматической оценкой.</a:t>
            </a:r>
          </a:p>
          <a:p>
            <a:pPr>
              <a:lnSpc>
                <a:spcPct val="150000"/>
              </a:lnSpc>
            </a:pPr>
            <a:r>
              <a:rPr lang="ru-RU" sz="2000" b="1" dirty="0">
                <a:solidFill>
                  <a:schemeClr val="accent1">
                    <a:lumMod val="50000"/>
                  </a:schemeClr>
                </a:solidFill>
              </a:rPr>
              <a:t>3.   Реализован функционал для преподавателей – добавлены</a:t>
            </a:r>
            <a:r>
              <a:rPr lang="ru-RU" sz="2000" dirty="0">
                <a:solidFill>
                  <a:schemeClr val="accent1">
                    <a:lumMod val="50000"/>
                  </a:schemeClr>
                </a:solidFill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ru-RU" sz="2000" dirty="0">
                <a:solidFill>
                  <a:schemeClr val="accent1">
                    <a:lumMod val="50000"/>
                  </a:schemeClr>
                </a:solidFill>
              </a:rPr>
              <a:t>- Инструменты для создания и редактирования курсов.</a:t>
            </a:r>
          </a:p>
          <a:p>
            <a:pPr>
              <a:lnSpc>
                <a:spcPct val="150000"/>
              </a:lnSpc>
            </a:pPr>
            <a:r>
              <a:rPr lang="ru-RU" sz="2000" dirty="0">
                <a:solidFill>
                  <a:schemeClr val="accent1">
                    <a:lumMod val="50000"/>
                  </a:schemeClr>
                </a:solidFill>
              </a:rPr>
              <a:t>- Управление учебными материалами и тестами.</a:t>
            </a:r>
          </a:p>
          <a:p>
            <a:pPr>
              <a:lnSpc>
                <a:spcPct val="150000"/>
              </a:lnSpc>
            </a:pPr>
            <a:r>
              <a:rPr lang="ru-RU" sz="2000" b="1" dirty="0">
                <a:solidFill>
                  <a:schemeClr val="accent1">
                    <a:lumMod val="50000"/>
                  </a:schemeClr>
                </a:solidFill>
              </a:rPr>
              <a:t>4.   Обеспечено администрирование платформы – внедрены:</a:t>
            </a:r>
          </a:p>
          <a:p>
            <a:pPr>
              <a:lnSpc>
                <a:spcPct val="150000"/>
              </a:lnSpc>
            </a:pPr>
            <a:r>
              <a:rPr lang="ru-RU" sz="2000" dirty="0">
                <a:solidFill>
                  <a:schemeClr val="accent1">
                    <a:lumMod val="50000"/>
                  </a:schemeClr>
                </a:solidFill>
              </a:rPr>
              <a:t>- Панель управления для модерации контента.</a:t>
            </a:r>
          </a:p>
          <a:p>
            <a:pPr>
              <a:lnSpc>
                <a:spcPct val="150000"/>
              </a:lnSpc>
            </a:pPr>
            <a:r>
              <a:rPr lang="ru-RU" sz="2000" dirty="0">
                <a:solidFill>
                  <a:schemeClr val="accent1">
                    <a:lumMod val="50000"/>
                  </a:schemeClr>
                </a:solidFill>
              </a:rPr>
              <a:t>- Система поддержки пользователей.</a:t>
            </a:r>
          </a:p>
        </p:txBody>
      </p:sp>
    </p:spTree>
    <p:extLst>
      <p:ext uri="{BB962C8B-B14F-4D97-AF65-F5344CB8AC3E}">
        <p14:creationId xmlns:p14="http://schemas.microsoft.com/office/powerpoint/2010/main" val="36041887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rgbClr val="8BB0BF">
                <a:lumMod val="97000"/>
              </a:srgbClr>
            </a:gs>
            <a:gs pos="100000">
              <a:schemeClr val="accent1">
                <a:lumMod val="20000"/>
                <a:lumOff val="80000"/>
              </a:schemeClr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: один скругленный угол 4">
            <a:extLst>
              <a:ext uri="{FF2B5EF4-FFF2-40B4-BE49-F238E27FC236}">
                <a16:creationId xmlns:a16="http://schemas.microsoft.com/office/drawing/2014/main" id="{B3CABE8B-997C-40BC-A782-36C2496BFA64}"/>
              </a:ext>
            </a:extLst>
          </p:cNvPr>
          <p:cNvSpPr/>
          <p:nvPr/>
        </p:nvSpPr>
        <p:spPr>
          <a:xfrm>
            <a:off x="3099454" y="2966720"/>
            <a:ext cx="5638800" cy="924560"/>
          </a:xfrm>
          <a:prstGeom prst="round1Rect">
            <a:avLst/>
          </a:prstGeom>
          <a:solidFill>
            <a:schemeClr val="bg1"/>
          </a:solidFill>
          <a:ln>
            <a:solidFill>
              <a:srgbClr val="ADCF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71CB6EA-82A6-4574-8C74-C8707978F9EF}"/>
              </a:ext>
            </a:extLst>
          </p:cNvPr>
          <p:cNvSpPr txBox="1"/>
          <p:nvPr/>
        </p:nvSpPr>
        <p:spPr>
          <a:xfrm>
            <a:off x="3453742" y="3075057"/>
            <a:ext cx="52845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dirty="0">
                <a:solidFill>
                  <a:schemeClr val="accent1">
                    <a:lumMod val="50000"/>
                  </a:schemeClr>
                </a:solidFill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8664742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1027</TotalTime>
  <Words>375</Words>
  <Application>Microsoft Office PowerPoint</Application>
  <PresentationFormat>Широкоэкранный</PresentationFormat>
  <Paragraphs>54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DeepSeek-CJK-patch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Усенова Эля</dc:creator>
  <cp:lastModifiedBy>Усенова Эля</cp:lastModifiedBy>
  <cp:revision>41</cp:revision>
  <dcterms:created xsi:type="dcterms:W3CDTF">2025-05-05T09:47:15Z</dcterms:created>
  <dcterms:modified xsi:type="dcterms:W3CDTF">2025-05-07T12:11:14Z</dcterms:modified>
</cp:coreProperties>
</file>